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1" r:id="rId7"/>
    <p:sldId id="272" r:id="rId8"/>
    <p:sldId id="273" r:id="rId9"/>
    <p:sldId id="275" r:id="rId10"/>
    <p:sldId id="260" r:id="rId11"/>
    <p:sldId id="276" r:id="rId12"/>
    <p:sldId id="277" r:id="rId13"/>
    <p:sldId id="278" r:id="rId14"/>
    <p:sldId id="266" r:id="rId15"/>
    <p:sldId id="279" r:id="rId16"/>
    <p:sldId id="28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9" d="100"/>
          <a:sy n="29" d="100"/>
        </p:scale>
        <p:origin x="780" y="32"/>
      </p:cViewPr>
      <p:guideLst>
        <p:guide orient="horz" pos="2160"/>
        <p:guide pos="2880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38" y="23752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6576" y="1482034"/>
            <a:ext cx="10698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rPr dirty="0" err="1"/>
              <a:t>AutoReproducer：基于多智能体协作的</a:t>
            </a:r>
            <a:endParaRPr dirty="0"/>
          </a:p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rPr dirty="0" err="1"/>
              <a:t>论文自动复现与优化系统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857986" y="3291887"/>
            <a:ext cx="2377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BBDD"/>
                </a:solidFill>
                <a:latin typeface="微软雅黑"/>
              </a:defRPr>
            </a:pPr>
            <a:r>
              <a:rPr sz="2000" dirty="0" err="1"/>
              <a:t>开题汇报</a:t>
            </a:r>
            <a:endParaRPr sz="2000" dirty="0"/>
          </a:p>
        </p:txBody>
      </p:sp>
      <p:sp>
        <p:nvSpPr>
          <p:cNvPr id="5" name="Rectangle 4"/>
          <p:cNvSpPr/>
          <p:nvPr/>
        </p:nvSpPr>
        <p:spPr>
          <a:xfrm>
            <a:off x="4112113" y="3712463"/>
            <a:ext cx="2743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D29FF7-896B-14C6-702B-ECFE524A46E7}"/>
              </a:ext>
            </a:extLst>
          </p:cNvPr>
          <p:cNvSpPr txBox="1"/>
          <p:nvPr/>
        </p:nvSpPr>
        <p:spPr>
          <a:xfrm>
            <a:off x="8470232" y="4976261"/>
            <a:ext cx="2454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汇报小组：灰原哀</a:t>
            </a:r>
            <a:br>
              <a:rPr lang="en-US" altLang="zh-CN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时间：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2026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年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9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月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23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5764" y="432215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rPr lang="zh-CN" altLang="en-US" sz="2800" dirty="0"/>
              <a:t>目录</a:t>
            </a:r>
            <a:endParaRPr sz="2800" dirty="0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1832" y="30518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研究背景与问题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95892" y="3693060"/>
            <a:ext cx="21595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微软雅黑"/>
              </a:defRPr>
            </a:pP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论文复现危机与核心挑战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45032" y="30518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前期调研与方案对比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474720" y="3693060"/>
            <a:ext cx="21595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微软雅黑"/>
              </a:defRPr>
            </a:pP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相关项目调研与五大缺口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88232" y="30518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设计方案与创新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0" y="3693060"/>
            <a:ext cx="18004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微软雅黑"/>
              </a:defRPr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设计思路与四点创新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1432" y="30518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团队分工与未来规划</a:t>
            </a:r>
            <a:endParaRPr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E98DD9-8816-B040-4C5C-E4676131D283}"/>
              </a:ext>
            </a:extLst>
          </p:cNvPr>
          <p:cNvSpPr/>
          <p:nvPr/>
        </p:nvSpPr>
        <p:spPr>
          <a:xfrm>
            <a:off x="565266" y="2078660"/>
            <a:ext cx="2232561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8961120" y="3693060"/>
            <a:ext cx="25186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微软雅黑"/>
              </a:defRPr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小组分工、里程碑与预期成果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  <a:latin typeface="微软雅黑"/>
              </a:defRPr>
            </a:pPr>
            <a:r>
              <a:t>AutoReproducer 开题汇报 | 第 2 页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FB7DCF6C-C784-9B63-8435-CC65A5FE151D}"/>
              </a:ext>
            </a:extLst>
          </p:cNvPr>
          <p:cNvSpPr txBox="1"/>
          <p:nvPr/>
        </p:nvSpPr>
        <p:spPr>
          <a:xfrm>
            <a:off x="787130" y="2046467"/>
            <a:ext cx="8803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75B6"/>
                </a:solidFill>
                <a:latin typeface="微软雅黑"/>
              </a:defRPr>
            </a:pPr>
            <a:r>
              <a:rPr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894891-0F19-FFE3-90BE-4D476FCA8C29}"/>
              </a:ext>
            </a:extLst>
          </p:cNvPr>
          <p:cNvSpPr/>
          <p:nvPr/>
        </p:nvSpPr>
        <p:spPr>
          <a:xfrm>
            <a:off x="3422264" y="2078950"/>
            <a:ext cx="2232561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374A897B-C959-0FF8-774B-BC34769EC762}"/>
              </a:ext>
            </a:extLst>
          </p:cNvPr>
          <p:cNvSpPr txBox="1"/>
          <p:nvPr/>
        </p:nvSpPr>
        <p:spPr>
          <a:xfrm>
            <a:off x="3644128" y="2046757"/>
            <a:ext cx="8803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75B6"/>
                </a:solidFill>
                <a:latin typeface="微软雅黑"/>
              </a:defRPr>
            </a:pPr>
            <a:r>
              <a:rPr dirty="0">
                <a:solidFill>
                  <a:schemeClr val="bg1"/>
                </a:solidFill>
              </a:rPr>
              <a:t>0</a:t>
            </a: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5D3B01-BCF5-F8AA-6430-D5F1ED7A921B}"/>
              </a:ext>
            </a:extLst>
          </p:cNvPr>
          <p:cNvSpPr/>
          <p:nvPr/>
        </p:nvSpPr>
        <p:spPr>
          <a:xfrm>
            <a:off x="6188232" y="2084678"/>
            <a:ext cx="2232561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D5129C6D-A9D1-7EC0-44BB-47D10B8A5AFF}"/>
              </a:ext>
            </a:extLst>
          </p:cNvPr>
          <p:cNvSpPr txBox="1"/>
          <p:nvPr/>
        </p:nvSpPr>
        <p:spPr>
          <a:xfrm>
            <a:off x="6410096" y="2052485"/>
            <a:ext cx="8803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75B6"/>
                </a:solidFill>
                <a:latin typeface="微软雅黑"/>
              </a:defRPr>
            </a:pPr>
            <a:r>
              <a:rPr dirty="0">
                <a:solidFill>
                  <a:schemeClr val="bg1"/>
                </a:solidFill>
              </a:rPr>
              <a:t>0</a:t>
            </a:r>
            <a:r>
              <a:rPr lang="en-US" dirty="0">
                <a:solidFill>
                  <a:schemeClr val="bg1"/>
                </a:solidFill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00FABE-DA85-CF6C-F5A2-B1BFADB448FF}"/>
              </a:ext>
            </a:extLst>
          </p:cNvPr>
          <p:cNvSpPr/>
          <p:nvPr/>
        </p:nvSpPr>
        <p:spPr>
          <a:xfrm>
            <a:off x="8931432" y="2084388"/>
            <a:ext cx="2232561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B5785D4-093B-F04B-D581-9C6929B7BB0D}"/>
              </a:ext>
            </a:extLst>
          </p:cNvPr>
          <p:cNvSpPr txBox="1"/>
          <p:nvPr/>
        </p:nvSpPr>
        <p:spPr>
          <a:xfrm>
            <a:off x="9153296" y="2052195"/>
            <a:ext cx="8803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75B6"/>
                </a:solidFill>
                <a:latin typeface="微软雅黑"/>
              </a:defRPr>
            </a:pPr>
            <a:r>
              <a:rPr dirty="0">
                <a:solidFill>
                  <a:schemeClr val="bg1"/>
                </a:solidFill>
              </a:rPr>
              <a:t>0</a:t>
            </a:r>
            <a:r>
              <a:rPr lang="en-US" dirty="0">
                <a:solidFill>
                  <a:schemeClr val="bg1"/>
                </a:solidFill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AI 论文复现成功率仅 21%，远低于人类专家的 41%，存在显著差距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0305"/>
            <a:ext cx="11277295" cy="3577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论文复现危机已成为制约科研效率的核心瓶颈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大量顶会论文代码无法在公开环境下直接运</a:t>
            </a:r>
            <a:r>
              <a:rPr lang="zh-CN" altLang="en-US" dirty="0"/>
              <a:t>行</a:t>
            </a:r>
            <a:endParaRPr lang="en-US" dirty="0"/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依赖版本冲突、API</a:t>
            </a:r>
            <a:r>
              <a:rPr dirty="0"/>
              <a:t> </a:t>
            </a:r>
            <a:r>
              <a:rPr dirty="0" err="1"/>
              <a:t>变更、缺失环境配置是主要障碍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PaperBench</a:t>
            </a:r>
            <a:r>
              <a:rPr dirty="0"/>
              <a:t> </a:t>
            </a:r>
            <a:r>
              <a:rPr dirty="0" err="1"/>
              <a:t>基准测试：Claude</a:t>
            </a:r>
            <a:r>
              <a:rPr dirty="0"/>
              <a:t> 3.5 Sonnet </a:t>
            </a:r>
            <a:r>
              <a:rPr dirty="0" err="1"/>
              <a:t>复现成功率仅</a:t>
            </a:r>
            <a:r>
              <a:rPr dirty="0"/>
              <a:t> 21.0%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人类机器学习博士在相同任务上达到</a:t>
            </a:r>
            <a:r>
              <a:rPr dirty="0"/>
              <a:t> 41.4% </a:t>
            </a:r>
            <a:r>
              <a:rPr dirty="0" err="1"/>
              <a:t>的得分</a:t>
            </a:r>
            <a:endParaRPr dirty="0"/>
          </a:p>
          <a:p>
            <a:pPr>
              <a:lnSpc>
                <a:spcPct val="150000"/>
              </a:lnSpc>
              <a:spcAft>
                <a:spcPts val="1200"/>
              </a:spcAft>
              <a:defRPr sz="2000">
                <a:solidFill>
                  <a:srgbClr val="2D2D2D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多智能体系统与大语言模型的结合为自动化复现提供了新可能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微软雅黑"/>
              </a:defRPr>
            </a:pPr>
            <a:r>
              <a:rPr dirty="0" err="1"/>
              <a:t>来源：OpenAI</a:t>
            </a:r>
            <a:r>
              <a:rPr dirty="0"/>
              <a:t> </a:t>
            </a:r>
            <a:r>
              <a:rPr dirty="0" err="1"/>
              <a:t>PaperBench</a:t>
            </a:r>
            <a:r>
              <a:rPr dirty="0"/>
              <a:t> (2025), Sakana AI Scientist-v2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98644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  <a:latin typeface="微软雅黑"/>
              </a:defRPr>
            </a:pPr>
            <a:r>
              <a:rPr dirty="0" err="1"/>
              <a:t>AutoReproducer</a:t>
            </a:r>
            <a:r>
              <a:rPr dirty="0"/>
              <a:t> </a:t>
            </a:r>
            <a:r>
              <a:rPr dirty="0" err="1"/>
              <a:t>开题汇报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01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9651758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论文复现为何如此困难：四类根因层层叠加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2E75B6">
              <a:alpha val="7000"/>
            </a:srgbClr>
          </a:solidFill>
          <a:ln w="12700">
            <a:solidFill>
              <a:srgbClr val="2E75B6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" y="1625559"/>
            <a:ext cx="126996" cy="2235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9776" y="1879552"/>
            <a:ext cx="584185" cy="584185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3059" y="1957400"/>
            <a:ext cx="253993" cy="3809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7156" y="1943051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算力资源门槛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172" y="2375013"/>
            <a:ext cx="4724281" cy="11683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论文实验常在多卡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GPU 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集群上数天至数周完成，个人笔记本难以支撑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复现往往需要从头训练，算力成本成为第一道屏障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243" y="1625559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28A745">
              <a:alpha val="8000"/>
            </a:srgbClr>
          </a:solidFill>
          <a:ln w="12700">
            <a:solidFill>
              <a:srgbClr val="28A745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8243" y="1625559"/>
            <a:ext cx="126996" cy="22351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78435" y="1879552"/>
            <a:ext cx="584185" cy="584185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1718" y="1957400"/>
            <a:ext cx="253993" cy="3809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5815" y="1943051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数据与权重存储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0527" y="2470089"/>
            <a:ext cx="4724281" cy="11683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复现一篇论文需代码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数据集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预训练权重，多篇累加快速耗尽磁盘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8333"/>
              </a:lnSpc>
            </a:pP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ImageNet 约 150GB，而 CIFAR-10 仅 600MB，体量差异悬殊。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063898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F09632">
              <a:alpha val="9000"/>
            </a:srgbClr>
          </a:solidFill>
          <a:ln w="12700">
            <a:solidFill>
              <a:srgbClr val="F09632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84" y="4063898"/>
            <a:ext cx="126996" cy="2235144"/>
          </a:xfrm>
          <a:prstGeom prst="rect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9776" y="4317891"/>
            <a:ext cx="584185" cy="584185"/>
          </a:xfrm>
          <a:prstGeom prst="ellipse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3059" y="4395739"/>
            <a:ext cx="253993" cy="3809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7156" y="4381390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环境配置复杂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370" y="4775253"/>
            <a:ext cx="4724281" cy="11683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CUDA、PyTorch、依赖版本错位即运行失败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，"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本地能跑"不等于环境可复现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逐论文手工搭建环境耗时且易错，环境问题占失败比例高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4063898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785AC8">
              <a:alpha val="8000"/>
            </a:srgbClr>
          </a:solidFill>
          <a:ln w="12700">
            <a:solidFill>
              <a:srgbClr val="785AC8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8243" y="4063898"/>
            <a:ext cx="126996" cy="2235144"/>
          </a:xfrm>
          <a:prstGeom prst="rect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78435" y="4317891"/>
            <a:ext cx="584185" cy="584185"/>
          </a:xfrm>
          <a:prstGeom prst="ellipse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1718" y="4395739"/>
            <a:ext cx="253993" cy="3809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5815" y="4381390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方法与验收失范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960" y="4787780"/>
            <a:ext cx="4724281" cy="11683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程序能跑"不等于复现成功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ScienceIDE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统计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55.2% </a:t>
            </a: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缺陷是程序跑通但科学结果错误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08333"/>
              </a:lnSpc>
            </a:pPr>
            <a:r>
              <a:rPr sz="13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缺少统一的数值级验收标准与证据裁决机制</a:t>
            </a:r>
            <a:r>
              <a:rPr sz="13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02 前期调研：相关项目全景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前期调研全景：从基准评测到科研自动化的四条主线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1980" y="1898602"/>
            <a:ext cx="10667734" cy="12700"/>
          </a:xfrm>
          <a:prstGeom prst="straightConnector1">
            <a:avLst/>
          </a:prstGeom>
          <a:ln w="25400" cap="flat">
            <a:solidFill>
              <a:srgbClr val="C8D2DE"/>
            </a:solidFill>
          </a:ln>
        </p:spPr>
      </p:cxnSp>
      <p:sp>
        <p:nvSpPr>
          <p:cNvPr id="8" name="Oval 7"/>
          <p:cNvSpPr/>
          <p:nvPr/>
        </p:nvSpPr>
        <p:spPr>
          <a:xfrm>
            <a:off x="1371565" y="1777955"/>
            <a:ext cx="253993" cy="253993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190895" y="1777955"/>
            <a:ext cx="253993" cy="253993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10224" y="1777955"/>
            <a:ext cx="253993" cy="253993"/>
          </a:xfrm>
          <a:prstGeom prst="ellipse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29554" y="1777955"/>
            <a:ext cx="253993" cy="253993"/>
          </a:xfrm>
          <a:prstGeom prst="ellipse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412" y="2133546"/>
            <a:ext cx="2666933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3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评估基准类</a:t>
            </a:r>
            <a:r>
              <a:rPr sz="13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PaperBench</a:t>
            </a:r>
            <a:endParaRPr sz="13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64741" y="2133546"/>
            <a:ext cx="2666933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全流程科研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071" y="2133546"/>
            <a:ext cx="2666933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③ 论文 → 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400" y="2133546"/>
            <a:ext cx="2158945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④ 平台工程化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2539936"/>
            <a:ext cx="5333866" cy="1625559"/>
          </a:xfrm>
          <a:prstGeom prst="roundRect">
            <a:avLst>
              <a:gd name="adj" fmla="val 6250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179" y="2692332"/>
            <a:ext cx="4876678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PaperBench（OpenAI</a:t>
            </a: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, 2025.04）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3022524"/>
            <a:ext cx="4876678" cy="10667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首个公开论文复现基准：20 篇 ICML 2024 论文、8316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个复现子任务</a:t>
            </a:r>
            <a:endParaRPr sz="14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最强模型得分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21.0%，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人类博士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41.4% ——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领域仍处早期</a:t>
            </a:r>
            <a:endParaRPr sz="14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48243" y="2539936"/>
            <a:ext cx="5333866" cy="1625559"/>
          </a:xfrm>
          <a:prstGeom prst="roundRect">
            <a:avLst>
              <a:gd name="adj" fmla="val 6250"/>
            </a:avLst>
          </a:prstGeom>
          <a:solidFill>
            <a:srgbClr val="28A745">
              <a:alpha val="7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6837" y="2692332"/>
            <a:ext cx="4876678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AI-Scientist（Sakana AI 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7" y="3022524"/>
            <a:ext cx="4876678" cy="10667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四阶段自动化科研：构思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实验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写作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评审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生成论文通过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ICLR workshop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评审，获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Nature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报道，但面向"新发现"而非复现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368690"/>
            <a:ext cx="5333866" cy="1625559"/>
          </a:xfrm>
          <a:prstGeom prst="roundRect">
            <a:avLst>
              <a:gd name="adj" fmla="val 6250"/>
            </a:avLst>
          </a:prstGeom>
          <a:solidFill>
            <a:srgbClr val="F09632">
              <a:alpha val="8000"/>
            </a:srgbClr>
          </a:solidFill>
          <a:ln w="12700">
            <a:solidFill>
              <a:srgbClr val="F09632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179" y="4521086"/>
            <a:ext cx="4876678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PaperCoder / Paper2Agent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" y="4851278"/>
            <a:ext cx="4876678" cy="10667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多智能体生成复现代码（PaperCoder）或将论文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代码封装为可执行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Agent（Paper2Agent）；</a:t>
            </a:r>
          </a:p>
          <a:p>
            <a:pPr>
              <a:lnSpc>
                <a:spcPct val="108333"/>
              </a:lnSpc>
            </a:pP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强在"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产出代码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"，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弱在数值级验证与环境复现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4368690"/>
            <a:ext cx="5333866" cy="1625559"/>
          </a:xfrm>
          <a:prstGeom prst="roundRect">
            <a:avLst>
              <a:gd name="adj" fmla="val 6250"/>
            </a:avLst>
          </a:prstGeom>
          <a:solidFill>
            <a:srgbClr val="785AC8">
              <a:alpha val="7000"/>
            </a:srgbClr>
          </a:solidFill>
          <a:ln w="12700">
            <a:solidFill>
              <a:srgbClr val="785AC8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6837" y="4521086"/>
            <a:ext cx="4876678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SWE-smith / ScholarAgent 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837" y="4851278"/>
            <a:ext cx="4876678" cy="10667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软件工程领域的镜像共享（存储降约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500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倍）与工程可信机制（经验库、证据链、防泄漏评测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>
              <a:lnSpc>
                <a:spcPct val="108333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为我们提供了可迁移的工程范式</a:t>
            </a: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02 前期调研：代表性项目分析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PaperBench：首个公开的论文复现基准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6857828" cy="4571885"/>
          </a:xfrm>
          <a:prstGeom prst="roundRect">
            <a:avLst>
              <a:gd name="adj" fmla="val 2777"/>
            </a:avLst>
          </a:prstGeom>
          <a:solidFill>
            <a:srgbClr val="2E75B6">
              <a:alpha val="5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8977" y="1803354"/>
            <a:ext cx="4063898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设计方案：任务拆解</a:t>
            </a: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自动评分</a:t>
            </a:r>
            <a:endParaRPr sz="16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8977" y="2235144"/>
            <a:ext cx="1981150" cy="121916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E75B6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9776" y="2362140"/>
            <a:ext cx="1777955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论文语料</a:t>
            </a:r>
            <a:endParaRPr sz="13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9775" y="2692332"/>
            <a:ext cx="1777955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ICML 2024</a:t>
            </a: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20 </a:t>
            </a: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篇论文</a:t>
            </a:r>
            <a:endParaRPr sz="14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870128" y="2838378"/>
            <a:ext cx="355591" cy="12700"/>
          </a:xfrm>
          <a:prstGeom prst="straightConnector1">
            <a:avLst/>
          </a:prstGeom>
          <a:ln w="25400" cap="flat">
            <a:solidFill>
              <a:srgbClr val="2E75B6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3225719" y="2235144"/>
            <a:ext cx="1981150" cy="121916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E75B6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51118" y="2362140"/>
            <a:ext cx="1777955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子任务拆解</a:t>
            </a:r>
            <a:endParaRPr sz="13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51118" y="2692331"/>
            <a:ext cx="1777955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8316 个</a:t>
            </a:r>
          </a:p>
          <a:p>
            <a:pPr algn="ctr">
              <a:lnSpc>
                <a:spcPct val="100000"/>
              </a:lnSpc>
            </a:pPr>
            <a:r>
              <a:rPr sz="14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结构化复现任务</a:t>
            </a:r>
            <a:endParaRPr sz="14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206869" y="2838378"/>
            <a:ext cx="355591" cy="12700"/>
          </a:xfrm>
          <a:prstGeom prst="straightConnector1">
            <a:avLst/>
          </a:prstGeom>
          <a:ln w="25400" cap="flat">
            <a:solidFill>
              <a:srgbClr val="2E75B6"/>
            </a:solidFill>
            <a:tailEnd type="triangle"/>
          </a:ln>
        </p:spPr>
      </p:cxnSp>
      <p:sp>
        <p:nvSpPr>
          <p:cNvPr id="17" name="Rounded Rectangle 16"/>
          <p:cNvSpPr/>
          <p:nvPr/>
        </p:nvSpPr>
        <p:spPr>
          <a:xfrm>
            <a:off x="5562460" y="2235144"/>
            <a:ext cx="1650958" cy="1219169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38658" y="2362140"/>
            <a:ext cx="1523961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8658" y="2692332"/>
            <a:ext cx="1523961" cy="66038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dirty="0" err="1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SimpleJudge</a:t>
            </a:r>
            <a:endParaRPr sz="1400" dirty="0">
              <a:solidFill>
                <a:srgbClr val="E6EEF8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400" dirty="0" err="1">
                <a:solidFill>
                  <a:srgbClr val="E6EEF8"/>
                </a:solidFill>
                <a:latin typeface="微软雅黑"/>
                <a:ea typeface="微软雅黑"/>
                <a:cs typeface="微软雅黑"/>
              </a:rPr>
              <a:t>判分</a:t>
            </a:r>
            <a:endParaRPr sz="1400" dirty="0">
              <a:solidFill>
                <a:srgbClr val="E6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8977" y="3625330"/>
            <a:ext cx="6349841" cy="228594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关键数据</a:t>
            </a: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6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最强模型整体得分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21.0%，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人类博士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41.4%；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判分器评测（JudgeEval）最佳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F1 仅 0.83 —— LLM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主观判分存在明显噪声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派生基准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PaperGuru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覆盖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23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篇论文，我们也将其纳入对照语料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205" y="1625559"/>
            <a:ext cx="3809904" cy="4571885"/>
          </a:xfrm>
          <a:prstGeom prst="roundRect">
            <a:avLst>
              <a:gd name="adj" fmla="val 3333"/>
            </a:avLst>
          </a:prstGeom>
          <a:solidFill>
            <a:srgbClr val="DC5046">
              <a:alpha val="6000"/>
            </a:srgbClr>
          </a:solidFill>
          <a:ln w="12700">
            <a:solidFill>
              <a:srgbClr val="DC5046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51598" y="1803354"/>
            <a:ext cx="3301917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局限与启发</a:t>
            </a:r>
            <a:endParaRPr b="1" dirty="0">
              <a:solidFill>
                <a:srgbClr val="B43C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26198" y="2235144"/>
            <a:ext cx="3301917" cy="34816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判分主观：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评分委托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LLM，F1 仅 0.83，复现"成功与否"缺乏确定性证据；</a:t>
            </a:r>
            <a:endParaRPr lang="en-US"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结果不可复算：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缺少对关键数值的哈希锚定与可审计裁决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范围较小：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仅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20 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篇论文，覆盖面有限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46505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启发：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复现验证必须走向"确定性、可审计、数值级"的验证范式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02 前期调研：代表性项目分析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从论文到代码：PaperCoder</a:t>
            </a:r>
            <a:r>
              <a:rPr sz="2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 与 Paper2Agent </a:t>
            </a:r>
            <a:r>
              <a:rPr sz="2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的探索</a:t>
            </a:r>
            <a:endParaRPr sz="2600"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5410064" cy="3174920"/>
          </a:xfrm>
          <a:prstGeom prst="roundRect">
            <a:avLst>
              <a:gd name="adj" fmla="val 4000"/>
            </a:avLst>
          </a:prstGeom>
          <a:solidFill>
            <a:srgbClr val="2E75B6">
              <a:alpha val="5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77" y="1689057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PaperCoder（KAIST</a:t>
            </a: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77" y="2146355"/>
            <a:ext cx="4876678" cy="241293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设计：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多智能体三阶段流水线</a:t>
            </a: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Plan：解析论文，拆解实现方案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Analyze：分析依赖与关键逻辑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Generate：生成可运行代码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成果：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复现代码获得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77%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原论文作者的认可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局限</a:t>
            </a:r>
            <a:r>
              <a:rPr sz="1600" b="1" dirty="0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作者认可"是主观反馈而非数值级验证；聚焦代码生成，未覆盖环境、存储与预算约束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625559"/>
            <a:ext cx="5410064" cy="3174920"/>
          </a:xfrm>
          <a:prstGeom prst="roundRect">
            <a:avLst>
              <a:gd name="adj" fmla="val 4000"/>
            </a:avLst>
          </a:prstGeom>
          <a:solidFill>
            <a:srgbClr val="28A745">
              <a:alpha val="6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1438" y="1625559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Paper2Agent（Stanford, Nature 2026）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738" y="2108146"/>
            <a:ext cx="4876678" cy="251453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设计：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把论文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代码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数据封装为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MCP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工具集</a:t>
            </a: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Tools：方法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可调用接口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Resources：数据与权重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可访问资源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Prompts：复现流程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引导提示词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贡献：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把"静态论文"变成"可执行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Agent"，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降低使用门槛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500"/>
              </a:lnSpc>
            </a:pP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局限：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侧重可执行封装，复现质量与结果验证仍依赖使用者自行判断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5003674"/>
            <a:ext cx="10972525" cy="1193770"/>
          </a:xfrm>
          <a:prstGeom prst="roundRect">
            <a:avLst>
              <a:gd name="adj" fmla="val 10638"/>
            </a:avLst>
          </a:prstGeom>
          <a:solidFill>
            <a:srgbClr val="DC5046">
              <a:alpha val="5000"/>
            </a:srgbClr>
          </a:solidFill>
          <a:ln w="12700">
            <a:solidFill>
              <a:srgbClr val="DC504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377" y="5181470"/>
            <a:ext cx="10413739" cy="83817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600" b="1" dirty="0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两类方案的共同盲区：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都把重点放在"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把论文变成代码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"，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而回避了三条硬问题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——</a:t>
            </a:r>
          </a:p>
          <a:p>
            <a:pPr>
              <a:lnSpc>
                <a:spcPct val="112500"/>
              </a:lnSpc>
            </a:pP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复现环境能否自动重建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？②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数值结果是否与原论文对齐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？③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预算与存储是否可控、过程是否可审计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02 前期调研：可借鉴的工程范式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来自软件工程领域的三条可迁移经验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3578" y="1803354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经验一 · SWE-smith：镜像级共享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578" y="2200452"/>
            <a:ext cx="4825879" cy="152396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NeurIPS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2025 数据集构建范式：128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个仓库共用统一底座镜像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>
              <a:lnSpc>
                <a:spcPct val="112500"/>
              </a:lnSpc>
            </a:pP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约 5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万个任务实例仅占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295GB——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相比逐任务构建降低约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500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倍存储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启发：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以"共享底座镜像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论文增量层"构建复现环境，从源头治理存储与构建成本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243" y="1625559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28A745">
              <a:alpha val="7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2237" y="1803354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经验二 · ScholarAgent：工程可信度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237" y="2108146"/>
            <a:ext cx="4825879" cy="152396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论文复现智能体的可迁移机制：DAG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任务调度、经验库沉淀、证据链审计、防泄漏评测、Holdout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验证集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启发：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复现系统不仅要"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跑得动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"，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更要"跑得可信、测得到位、可复盘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063898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F09632">
              <a:alpha val="8000"/>
            </a:srgbClr>
          </a:solidFill>
          <a:ln w="12700">
            <a:solidFill>
              <a:srgbClr val="F09632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578" y="4241693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经验三 · ScienceIDE：科学正确性校验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709" y="4580015"/>
            <a:ext cx="4825879" cy="152396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对科学软件缺陷的大规模诊断发现：55.2%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的缺陷任务表现为"程序运行成功但科学结果错误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"；</a:t>
            </a:r>
          </a:p>
          <a:p>
            <a:pPr>
              <a:lnSpc>
                <a:spcPct val="1125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启发：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验证必须穿透"代码能否运行"的表层，直达"数值结果是否科学正确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"。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4063898"/>
            <a:ext cx="5333866" cy="2235144"/>
          </a:xfrm>
          <a:prstGeom prst="roundRect">
            <a:avLst>
              <a:gd name="adj" fmla="val 5681"/>
            </a:avLst>
          </a:prstGeom>
          <a:solidFill>
            <a:srgbClr val="785AC8">
              <a:alpha val="7000"/>
            </a:srgbClr>
          </a:solidFill>
          <a:ln w="12700">
            <a:solidFill>
              <a:srgbClr val="785AC8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2237" y="4241693"/>
            <a:ext cx="4825879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综合借鉴 · 汇聚为本项目三原则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237" y="4521087"/>
            <a:ext cx="4825879" cy="152396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25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存储工程化：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统一资源管理与共享镜像，控制磁盘与构建成本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验证确定性：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以证据链与数值对齐取代主观判分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>
              <a:lnSpc>
                <a:spcPct val="1125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过程可审计：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全链路留痕、可回放、可评审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02 前期调研：调研结论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调研结论：现有方案存在五大缺口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10972525" cy="736581"/>
          </a:xfrm>
          <a:prstGeom prst="roundRect">
            <a:avLst>
              <a:gd name="adj" fmla="val 13793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8179" y="1777955"/>
            <a:ext cx="431789" cy="431789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838" y="1823639"/>
            <a:ext cx="253993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3163" y="1739856"/>
            <a:ext cx="7619809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缺乏"复现 + 验证"的一体化工具链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163" y="2006549"/>
            <a:ext cx="7619809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要么只评测（PaperBench），要么只生成（PaperCoder），没有端到端闭环。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764" y="1777955"/>
            <a:ext cx="1981150" cy="43178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评审差异大 · 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不可复用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2489137"/>
            <a:ext cx="10972525" cy="736581"/>
          </a:xfrm>
          <a:prstGeom prst="roundRect">
            <a:avLst>
              <a:gd name="adj" fmla="val 13793"/>
            </a:avLst>
          </a:prstGeom>
          <a:solidFill>
            <a:srgbClr val="28A745">
              <a:alpha val="6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8179" y="2641533"/>
            <a:ext cx="431789" cy="4317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3838" y="2687218"/>
            <a:ext cx="253993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3163" y="2603434"/>
            <a:ext cx="7619809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结果验证依赖主观判定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3163" y="2870128"/>
            <a:ext cx="7619809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LLM 判分（F1=0.83）或"作者认可"，缺少确定性、可复算的证据裁決。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7764" y="2641533"/>
            <a:ext cx="1981150" cy="43178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判分不可信 · 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不可复算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352716"/>
            <a:ext cx="10972525" cy="736581"/>
          </a:xfrm>
          <a:prstGeom prst="roundRect">
            <a:avLst>
              <a:gd name="adj" fmla="val 13793"/>
            </a:avLst>
          </a:prstGeom>
          <a:solidFill>
            <a:srgbClr val="F09632">
              <a:alpha val="8000"/>
            </a:srgbClr>
          </a:solidFill>
          <a:ln w="12700">
            <a:solidFill>
              <a:srgbClr val="F09632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8179" y="3505112"/>
            <a:ext cx="431789" cy="431789"/>
          </a:xfrm>
          <a:prstGeom prst="ellipse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838" y="3550796"/>
            <a:ext cx="253993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3163" y="3467013"/>
            <a:ext cx="7619809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环境、存储与预算不可控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163" y="3733706"/>
            <a:ext cx="7619809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依赖冲突、数据与权重膨胀、GPU 成本不可预估，复现"跑不起、装不上、存不下"。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7764" y="3505112"/>
            <a:ext cx="1981150" cy="43178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成本失控 · 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环境脆弱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216294"/>
            <a:ext cx="10972525" cy="736581"/>
          </a:xfrm>
          <a:prstGeom prst="roundRect">
            <a:avLst>
              <a:gd name="adj" fmla="val 13793"/>
            </a:avLst>
          </a:prstGeom>
          <a:solidFill>
            <a:srgbClr val="785AC8">
              <a:alpha val="7000"/>
            </a:srgbClr>
          </a:solidFill>
          <a:ln w="12700">
            <a:solidFill>
              <a:srgbClr val="785AC8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8179" y="4368690"/>
            <a:ext cx="431789" cy="431789"/>
          </a:xfrm>
          <a:prstGeom prst="ellipse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3838" y="4414375"/>
            <a:ext cx="253993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3163" y="4330591"/>
            <a:ext cx="7619809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复现失败后缺少自动优化闭环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3163" y="4597284"/>
            <a:ext cx="7619809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遇到运行错误或数值偏差，靠人肉调参反复试，没有智能定位与修复机制。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7764" y="4368690"/>
            <a:ext cx="1981150" cy="43178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一次失败 · 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无法自愈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84" y="5079872"/>
            <a:ext cx="10972525" cy="988419"/>
          </a:xfrm>
          <a:prstGeom prst="roundRect">
            <a:avLst>
              <a:gd name="adj" fmla="val 8888"/>
            </a:avLst>
          </a:prstGeom>
          <a:solidFill>
            <a:srgbClr val="DC5046">
              <a:alpha val="6000"/>
            </a:srgbClr>
          </a:solidFill>
          <a:ln w="12700">
            <a:solidFill>
              <a:srgbClr val="DC504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8179" y="5257668"/>
            <a:ext cx="431789" cy="431789"/>
          </a:xfrm>
          <a:prstGeom prst="ellipse">
            <a:avLst/>
          </a:prstGeom>
          <a:solidFill>
            <a:srgbClr val="DC5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3838" y="5303352"/>
            <a:ext cx="253993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3163" y="5206869"/>
            <a:ext cx="7619809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整个过程不可审计、不可复盘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3163" y="5473563"/>
            <a:ext cx="7619809" cy="2793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执行环境、命令、日志、参数决策缺少留痕，结论可信度无法被第三方验证。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7764" y="5257668"/>
            <a:ext cx="1981150" cy="43178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黑盒执行 · 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无法回放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1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AutoReproducer</a:t>
            </a:r>
            <a:r>
              <a:rPr dirty="0"/>
              <a:t> </a:t>
            </a:r>
            <a:r>
              <a:rPr dirty="0" err="1"/>
              <a:t>旨在实现自动复现、智能优化与预算可控三大核心目标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065" y="1264722"/>
            <a:ext cx="3721735" cy="5105554"/>
          </a:xfrm>
          <a:prstGeom prst="roundRect">
            <a:avLst/>
          </a:prstGeom>
          <a:solidFill>
            <a:srgbClr val="E8F0F8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2931" y="133442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目标一：自动复现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24296" y="1977359"/>
            <a:ext cx="3544784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2D2D2D"/>
                </a:solidFill>
                <a:latin typeface="微软雅黑"/>
              </a:defRPr>
            </a:pPr>
            <a:r>
              <a:rPr lang="zh-CN" altLang="zh-CN" sz="1600" dirty="0">
                <a:solidFill>
                  <a:srgbClr val="2D2D2D"/>
                </a:solidFill>
                <a:latin typeface="微软雅黑"/>
              </a:rPr>
              <a:t>由 8+1 个专职智能体分工协作——编排器负责全局调度与状态流转，读论文 Agent 提取关键训练配置与实验设置，找代码 Agent 定位公开实现，搭环境 Agent 自动完成依赖解析与容器化构建，运行 Agent 在真实沙箱中执行，验证 Agent 对输出与论文指标做确定性比对。用户只需要给出论文，其余环节全部由系统代为完成，并对过程全程留痕。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297680" y="1264722"/>
            <a:ext cx="3657600" cy="5105554"/>
          </a:xfrm>
          <a:prstGeom prst="roundRect">
            <a:avLst/>
          </a:prstGeom>
          <a:solidFill>
            <a:srgbClr val="E8F0F8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4637" y="135378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目标二：智能优化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494276" y="1882355"/>
            <a:ext cx="329184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2D2D2D"/>
                </a:solidFill>
                <a:latin typeface="微软雅黑"/>
              </a:defRPr>
            </a:pPr>
            <a:r>
              <a:rPr lang="zh-CN" altLang="zh-CN" sz="1600" dirty="0">
                <a:solidFill>
                  <a:srgbClr val="2D2D2D"/>
                </a:solidFill>
                <a:latin typeface="微软雅黑"/>
              </a:rPr>
              <a:t>AutoReproducer 把复现与优化纳入同一条流水线：复现成功，系统自动进入优化阶段，在超参数空间和实验设置中搜索更优配置，尝试超越原论文指标；复现失败或结果偏离，系统不是简单报错退出，而是结合执行日志与代码特征定位失败原因，定向修复，启动下一轮验证。整个过程形成"复现→验证→优化→再验证"的自愈闭环，每一次失败都在为下一轮尝试提供信息。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138160" y="1264723"/>
            <a:ext cx="3657600" cy="5159828"/>
          </a:xfrm>
          <a:prstGeom prst="roundRect">
            <a:avLst/>
          </a:prstGeom>
          <a:solidFill>
            <a:srgbClr val="E8F0F8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0833" y="133442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微软雅黑"/>
              </a:defRPr>
            </a:pPr>
            <a:r>
              <a:rPr dirty="0" err="1"/>
              <a:t>目标三：预算可控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321040" y="1802408"/>
            <a:ext cx="329184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2D2D2D"/>
                </a:solidFill>
                <a:latin typeface="微软雅黑"/>
              </a:defRPr>
            </a:pPr>
            <a:r>
              <a:rPr lang="zh-CN" altLang="zh-CN" sz="1600" dirty="0">
                <a:solidFill>
                  <a:srgbClr val="2D2D2D"/>
                </a:solidFill>
                <a:latin typeface="微软雅黑"/>
              </a:rPr>
              <a:t>算力侧：预算感知调度（UCB/BeamUCT 类搜索策略）不再盲目尝试所有路径，而是评估每条实验路径的期望收益，将有限预算优先投入最可能出结果的方向，无效尝试及时止损。</a:t>
            </a:r>
            <a:endParaRPr lang="en-US" altLang="zh-CN" sz="1600" dirty="0">
              <a:solidFill>
                <a:srgbClr val="2D2D2D"/>
              </a:solidFill>
              <a:latin typeface="微软雅黑"/>
            </a:endParaRPr>
          </a:p>
          <a:p>
            <a:pPr>
              <a:lnSpc>
                <a:spcPct val="150000"/>
              </a:lnSpc>
              <a:defRPr sz="1600">
                <a:solidFill>
                  <a:srgbClr val="2D2D2D"/>
                </a:solidFill>
                <a:latin typeface="微软雅黑"/>
              </a:defRPr>
            </a:pPr>
            <a:r>
              <a:rPr lang="zh-CN" altLang="zh-CN" sz="1600" dirty="0">
                <a:solidFill>
                  <a:srgbClr val="2D2D2D"/>
                </a:solidFill>
                <a:latin typeface="微软雅黑"/>
              </a:rPr>
              <a:t>存储侧：采用三层存储（本地热缓存/移动存储温层/云端冷存）+ 懒加载（只拉当前任务所需子集）+ 共享底座镜像，单任务磁盘占用被显著压缩；配合国内镜像加速，下载构建时长也大幅下降。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98644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  <a:latin typeface="微软雅黑"/>
              </a:defRPr>
            </a:pPr>
            <a:r>
              <a:rPr dirty="0" err="1"/>
              <a:t>AutoReproducer</a:t>
            </a:r>
            <a:r>
              <a:rPr dirty="0"/>
              <a:t> </a:t>
            </a:r>
            <a:r>
              <a:rPr dirty="0" err="1"/>
              <a:t>开题汇报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03 设计方案与创新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设计思路：问题导向，五大机制逐一回应缺口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00159"/>
            <a:ext cx="5333866" cy="4597284"/>
          </a:xfrm>
          <a:prstGeom prst="roundRect">
            <a:avLst>
              <a:gd name="adj" fmla="val 2762"/>
            </a:avLst>
          </a:prstGeom>
          <a:solidFill>
            <a:srgbClr val="2E75B6">
              <a:alpha val="5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8977" y="1777955"/>
            <a:ext cx="3809904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问题缺口（调研结论</a:t>
            </a:r>
            <a:r>
              <a:rPr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2209744"/>
            <a:ext cx="4825879" cy="333747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G1 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缺乏一体化复现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验证工具链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G2 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结果验证依赖主观判定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G3 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环境、存储与预算不可控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G4 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失败后缺少自动优化闭环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G5 ·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过程不可审计、不可复盘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8850" y="1904952"/>
            <a:ext cx="507987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8850" y="3428914"/>
            <a:ext cx="507987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8850" y="4952876"/>
            <a:ext cx="507987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2237" y="1600159"/>
            <a:ext cx="5079872" cy="4597284"/>
          </a:xfrm>
          <a:prstGeom prst="roundRect">
            <a:avLst>
              <a:gd name="adj" fmla="val 2762"/>
            </a:avLst>
          </a:prstGeom>
          <a:solidFill>
            <a:srgbClr val="28A745">
              <a:alpha val="6000"/>
            </a:srgbClr>
          </a:solidFill>
          <a:ln w="12700">
            <a:solidFill>
              <a:srgbClr val="28A745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1630" y="1777955"/>
            <a:ext cx="3809904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我们的方案机制（回应</a:t>
            </a:r>
            <a:r>
              <a:rPr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 G1-G5）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630" y="2133719"/>
            <a:ext cx="4571885" cy="38099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S1 · </a:t>
            </a: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复现-优化一体闭环：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同一流水线内完成复现、验证与自动调优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S2 · </a:t>
            </a: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确定性证据链裁决：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关键数值以哈希锚定的执行证据裁决，不委托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LLM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判分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S3 · </a:t>
            </a: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统一资源管理：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共享底座镜像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三层存储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预算感知调度，控制磁盘与算力成本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S4 · Agent </a:t>
            </a: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自愈优化：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失败定位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定向修复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重试验证，形成闭环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400" b="1" dirty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S5 · </a:t>
            </a: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全链路审计：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环境、命令、日志、决策全程留痕，结论可回放、可评审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03 设计方案与创新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四点创新：面向真实复现场景的差异化设计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5333866" cy="2158945"/>
          </a:xfrm>
          <a:prstGeom prst="roundRect">
            <a:avLst>
              <a:gd name="adj" fmla="val 5882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377" y="1879552"/>
            <a:ext cx="660383" cy="660383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7630" y="1939584"/>
            <a:ext cx="25399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7955" y="1930351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复现-优化一体闭环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2560720"/>
            <a:ext cx="4800479" cy="939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将论文复现与参数调优纳入同一条流水线：复现即验证，验证失败即定向优化，边复现边逼近论文指标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243" y="1625559"/>
            <a:ext cx="5333866" cy="2158945"/>
          </a:xfrm>
          <a:prstGeom prst="roundRect">
            <a:avLst>
              <a:gd name="adj" fmla="val 5882"/>
            </a:avLst>
          </a:prstGeom>
          <a:solidFill>
            <a:srgbClr val="28A745">
              <a:alpha val="7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3036" y="1879552"/>
            <a:ext cx="660383" cy="660383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289" y="1939584"/>
            <a:ext cx="25399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6614" y="1930351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确定性证据链裁决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0225" y="2469676"/>
            <a:ext cx="4800479" cy="939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复现"成功与否"由哈希锚定的执行证据与确定性规则裁决，全程不依赖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LLM 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主观判断，结论可复算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987700"/>
            <a:ext cx="5333866" cy="2158945"/>
          </a:xfrm>
          <a:prstGeom prst="roundRect">
            <a:avLst>
              <a:gd name="adj" fmla="val 5882"/>
            </a:avLst>
          </a:prstGeom>
          <a:solidFill>
            <a:srgbClr val="F09632">
              <a:alpha val="8000"/>
            </a:srgbClr>
          </a:solidFill>
          <a:ln w="12700">
            <a:solidFill>
              <a:srgbClr val="F09632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377" y="4241693"/>
            <a:ext cx="660383" cy="660383"/>
          </a:xfrm>
          <a:prstGeom prst="ellipse">
            <a:avLst/>
          </a:prstGeom>
          <a:solidFill>
            <a:srgbClr val="F0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7630" y="4301725"/>
            <a:ext cx="25399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7955" y="4292492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预算感知的智能调度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77" y="4962108"/>
            <a:ext cx="4800479" cy="939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在有限算力预算内，以收益感知的搜索策略（UCB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BeamUCT）选择最有价值的实验路径，省钱且提速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243" y="3987700"/>
            <a:ext cx="5333866" cy="2158945"/>
          </a:xfrm>
          <a:prstGeom prst="roundRect">
            <a:avLst>
              <a:gd name="adj" fmla="val 5882"/>
            </a:avLst>
          </a:prstGeom>
          <a:solidFill>
            <a:srgbClr val="785AC8">
              <a:alpha val="7000"/>
            </a:srgbClr>
          </a:solidFill>
          <a:ln w="12700">
            <a:solidFill>
              <a:srgbClr val="785AC8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53036" y="4241693"/>
            <a:ext cx="660383" cy="660383"/>
          </a:xfrm>
          <a:prstGeom prst="ellipse">
            <a:avLst/>
          </a:prstGeom>
          <a:solidFill>
            <a:srgbClr val="7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289" y="4301725"/>
            <a:ext cx="253993" cy="5079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6614" y="4292492"/>
            <a:ext cx="3936901" cy="304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资源治理与语料对照层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6" y="4869744"/>
            <a:ext cx="4800479" cy="939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08333"/>
              </a:lnSpc>
            </a:pP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共享底座镜像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三层存储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懒加载控制磁盘占用，内置论文语料库支撑分级验收与结果对照</a:t>
            </a:r>
            <a:r>
              <a:rPr sz="1600" dirty="0">
                <a:solidFill>
                  <a:srgbClr val="46505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04 团队分工与未来规划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小组分工：模块耦合，责任到人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46655"/>
              </p:ext>
            </p:extLst>
          </p:nvPr>
        </p:nvGraphicFramePr>
        <p:xfrm>
          <a:off x="609584" y="1625559"/>
          <a:ext cx="10972524" cy="3809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1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78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成员</a:t>
                      </a:r>
                    </a:p>
                  </a:txBody>
                  <a:tcPr marL="50798" marR="50798" marT="25399" marB="25399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50798" marR="50798" marT="25399" marB="25399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负责模块</a:t>
                      </a:r>
                    </a:p>
                  </a:txBody>
                  <a:tcPr marL="50798" marR="50798" marT="25399" marB="25399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关键交付</a:t>
                      </a:r>
                    </a:p>
                  </a:txBody>
                  <a:tcPr marL="50798" marR="50798" marT="25399" marB="25399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武庆阳</a:t>
                      </a:r>
                      <a:endParaRPr sz="1600" b="1" dirty="0">
                        <a:solidFill>
                          <a:srgbClr val="1F4E79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2E75B6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项目负责人</a:t>
                      </a:r>
                      <a:r>
                        <a:rPr sz="1400" dirty="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系统架构</a:t>
                      </a:r>
                      <a:endParaRPr sz="1400" dirty="0">
                        <a:solidFill>
                          <a:srgbClr val="3C46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整体架构、流水线编排、验收体系设计</a:t>
                      </a:r>
                      <a:endParaRPr sz="1400" dirty="0">
                        <a:solidFill>
                          <a:srgbClr val="3C46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系统框架、L1/L2/L3 分级验收方案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罗亚淞</a:t>
                      </a:r>
                      <a:endParaRPr sz="1600" b="1" dirty="0">
                        <a:solidFill>
                          <a:srgbClr val="1F4E79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2E75B6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多智能体子系统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dirty="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</a:t>
                      </a: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编排与调度、任务分解</a:t>
                      </a:r>
                      <a:endParaRPr sz="1400" dirty="0">
                        <a:solidFill>
                          <a:srgbClr val="3C46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调度模块、交互界面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邹辰天</a:t>
                      </a:r>
                      <a:endParaRPr sz="1600" b="1" dirty="0">
                        <a:solidFill>
                          <a:srgbClr val="1F4E79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2E75B6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环境与存储工程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容器化执行、依赖解析、资源与数据管理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存储管理层、镜像共享方案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7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邹辰天</a:t>
                      </a:r>
                      <a:endParaRPr sz="1600" b="1" dirty="0">
                        <a:solidFill>
                          <a:srgbClr val="1F4E79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2E75B6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评测与文档</a:t>
                      </a:r>
                      <a:endParaRPr sz="1400" dirty="0">
                        <a:solidFill>
                          <a:srgbClr val="3C46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基准测试、防泄漏评测、文档与汇报</a:t>
                      </a: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1400" dirty="0" err="1">
                          <a:solidFill>
                            <a:srgbClr val="3C46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测试报告、项目文档</a:t>
                      </a:r>
                      <a:endParaRPr sz="1400" dirty="0">
                        <a:solidFill>
                          <a:srgbClr val="3C46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0798" marR="50798" marT="25399" marB="2539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09584" y="5638658"/>
            <a:ext cx="10972525" cy="609584"/>
          </a:xfrm>
          <a:prstGeom prst="roundRect">
            <a:avLst>
              <a:gd name="adj" fmla="val 16666"/>
            </a:avLst>
          </a:prstGeom>
          <a:solidFill>
            <a:srgbClr val="2E75B6">
              <a:alpha val="6000"/>
            </a:srgbClr>
          </a:solidFill>
          <a:ln w="12700">
            <a:solidFill>
              <a:srgbClr val="2E75B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977" y="5791055"/>
            <a:ext cx="10413739" cy="35559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协作机制：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每周例会同步进度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· Git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分支管理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Code Review ·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里程碑双周评审</a:t>
            </a:r>
            <a:r>
              <a:rPr sz="14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4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文档随代码同步更新</a:t>
            </a:r>
            <a:endParaRPr sz="14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1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微软雅黑"/>
              </a:defRPr>
            </a:pPr>
            <a:r>
              <a:t>后续工作将聚焦真实论文验证、优化案例积累与系统演示材料完善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828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034262"/>
              </p:ext>
            </p:extLst>
          </p:nvPr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dirty="0" err="1"/>
                        <a:t>阶段</a:t>
                      </a:r>
                      <a:endParaRPr dirty="0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预期成果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 b="1">
                          <a:solidFill>
                            <a:srgbClr val="1F4E79"/>
                          </a:solidFill>
                          <a:latin typeface="微软雅黑"/>
                        </a:defRPr>
                      </a:pPr>
                      <a:r>
                        <a:rPr dirty="0"/>
                        <a:t>2026.10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3-5 篇论文端到端复现验证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复现成功率实证数据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 b="1">
                          <a:solidFill>
                            <a:srgbClr val="1F4E79"/>
                          </a:solidFill>
                          <a:latin typeface="微软雅黑"/>
                        </a:defRPr>
                      </a:pPr>
                      <a:r>
                        <a:rPr dirty="0"/>
                        <a:t>2026.11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优化模块真实案例验证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优化提升案例与数据对比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 b="1">
                          <a:solidFill>
                            <a:srgbClr val="1F4E79"/>
                          </a:solidFill>
                          <a:latin typeface="微软雅黑"/>
                        </a:defRPr>
                      </a:pPr>
                      <a:r>
                        <a:rPr dirty="0"/>
                        <a:t>2026.12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系统深化验证与演示录制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完整工作流演示材料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 b="1">
                          <a:solidFill>
                            <a:srgbClr val="1F4E79"/>
                          </a:solidFill>
                          <a:latin typeface="微软雅黑"/>
                        </a:defRPr>
                      </a:pPr>
                      <a:r>
                        <a:rPr dirty="0"/>
                        <a:t>202</a:t>
                      </a:r>
                      <a:r>
                        <a:rPr lang="en-US" dirty="0"/>
                        <a:t>6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12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结题技术报告与答辩材料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defRPr sz="15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rPr dirty="0" err="1"/>
                        <a:t>完整项目文档与汇报</a:t>
                      </a:r>
                      <a:r>
                        <a:rPr dirty="0"/>
                        <a:t> PPT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98644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  <a:latin typeface="微软雅黑"/>
              </a:defRPr>
            </a:pPr>
            <a:r>
              <a:rPr dirty="0" err="1"/>
              <a:t>AutoReproducer</a:t>
            </a:r>
            <a:r>
              <a:rPr dirty="0"/>
              <a:t> </a:t>
            </a:r>
            <a:r>
              <a:rPr dirty="0" err="1"/>
              <a:t>开题汇报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1597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584" y="711182"/>
            <a:ext cx="76198" cy="330191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779" y="634984"/>
            <a:ext cx="3809904" cy="25399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788CA0"/>
                </a:solidFill>
                <a:latin typeface="微软雅黑"/>
                <a:ea typeface="微软雅黑"/>
                <a:cs typeface="微软雅黑"/>
              </a:rPr>
              <a:t>04 团队分工与未来规划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14377"/>
            <a:ext cx="10159745" cy="48258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预期成果与风险预案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625559"/>
            <a:ext cx="5333866" cy="4622684"/>
          </a:xfrm>
          <a:prstGeom prst="roundRect">
            <a:avLst>
              <a:gd name="adj" fmla="val 2747"/>
            </a:avLst>
          </a:prstGeom>
          <a:solidFill>
            <a:srgbClr val="28A745">
              <a:alpha val="6000"/>
            </a:srgbClr>
          </a:solidFill>
          <a:ln w="12700">
            <a:solidFill>
              <a:srgbClr val="28A745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8977" y="1803354"/>
            <a:ext cx="4063898" cy="35559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预期成果</a:t>
            </a:r>
            <a:endParaRPr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8977" y="2209744"/>
            <a:ext cx="4825879" cy="368290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系统交付：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功能完整的论文复现与优化系统，含多智能体编排、确定性验证、资源管控与可视化界面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基准验证：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在公开复现基准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内置论文语料上完成系统评测，L1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流程级复现成功率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≥ 60%，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至少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篇升级至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L2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数值级复现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论文成果：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形成可投稿的对比评测论文一篇或技术报告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开源沉淀：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代码、数据、文档开源，沉淀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20+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篇论文的复现经验库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243" y="1625559"/>
            <a:ext cx="5333866" cy="4622684"/>
          </a:xfrm>
          <a:prstGeom prst="roundRect">
            <a:avLst>
              <a:gd name="adj" fmla="val 2747"/>
            </a:avLst>
          </a:prstGeom>
          <a:solidFill>
            <a:srgbClr val="DC5046">
              <a:alpha val="5000"/>
            </a:srgbClr>
          </a:solidFill>
          <a:ln w="12700">
            <a:solidFill>
              <a:srgbClr val="DC5046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7636" y="1803354"/>
            <a:ext cx="4063898" cy="35559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5000"/>
              </a:lnSpc>
            </a:pPr>
            <a:r>
              <a:rPr b="1" dirty="0" err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风险与应对</a:t>
            </a:r>
            <a:endParaRPr b="1" dirty="0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27636" y="2362140"/>
            <a:ext cx="4825879" cy="368290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算力不足：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采用降级验证（小规模子集、缩短训练）确认流程与趋势，必要时按需租用云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GPU；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依赖</a:t>
            </a:r>
            <a:r>
              <a:rPr sz="1600" b="1" dirty="0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环境复杂：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共享底座镜像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依赖锁定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自愈机制，降低人工排障成本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判分不可靠：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裁决不依赖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LLM，以确定性证据链兜底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endParaRPr sz="1600" dirty="0">
              <a:solidFill>
                <a:srgbClr val="3C465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667"/>
              </a:lnSpc>
            </a:pPr>
            <a:r>
              <a:rPr sz="1600" b="1" dirty="0" err="1">
                <a:solidFill>
                  <a:srgbClr val="B43C32"/>
                </a:solidFill>
                <a:latin typeface="微软雅黑"/>
                <a:ea typeface="微软雅黑"/>
                <a:cs typeface="微软雅黑"/>
              </a:rPr>
              <a:t>进度风险：</a:t>
            </a:r>
            <a:r>
              <a:rPr sz="1600" dirty="0" err="1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里程碑按月验收，范围裁剪策略明确：先保核心闭环，再扩展语料与实验</a:t>
            </a:r>
            <a:r>
              <a:rPr sz="1600" dirty="0">
                <a:solidFill>
                  <a:srgbClr val="3C4655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88879BE-4122-1318-80E0-04C1123F2901}"/>
              </a:ext>
            </a:extLst>
          </p:cNvPr>
          <p:cNvSpPr/>
          <p:nvPr/>
        </p:nvSpPr>
        <p:spPr>
          <a:xfrm>
            <a:off x="5938" y="11876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795123-D5BF-1FD2-09D9-10CB486BB704}"/>
              </a:ext>
            </a:extLst>
          </p:cNvPr>
          <p:cNvSpPr txBox="1"/>
          <p:nvPr/>
        </p:nvSpPr>
        <p:spPr>
          <a:xfrm>
            <a:off x="2875214" y="2910628"/>
            <a:ext cx="6136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 sz="3600" dirty="0"/>
              <a:t>感谢老师的聆听和指导</a:t>
            </a:r>
          </a:p>
        </p:txBody>
      </p:sp>
    </p:spTree>
    <p:extLst>
      <p:ext uri="{BB962C8B-B14F-4D97-AF65-F5344CB8AC3E}">
        <p14:creationId xmlns:p14="http://schemas.microsoft.com/office/powerpoint/2010/main" val="357922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1605</Words>
  <Application>Microsoft Office PowerPoint</Application>
  <PresentationFormat>自定义</PresentationFormat>
  <Paragraphs>262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qy wu</cp:lastModifiedBy>
  <cp:revision>4</cp:revision>
  <dcterms:created xsi:type="dcterms:W3CDTF">2013-01-27T09:14:16Z</dcterms:created>
  <dcterms:modified xsi:type="dcterms:W3CDTF">2026-09-23T01:28:46Z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918854df-a001-4c3a-a13a-ab2be5fc6198","ReservedCode1":"72dafc97cd38b92e5f3d5cdfd0dfbbe6","ContentPropagator":"001191110000802100433B11010001191110000802100433B11010","PropagateID":"df6bcb13-f27d-48fb-8011-8917e008ab78","ReservedCode2":"2734827274df537123a472bf4de01eb5"}</vt:lpwstr>
  </property>
</Properties>
</file>